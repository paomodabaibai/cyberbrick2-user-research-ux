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16"/>
  </p:notesMasterIdLst>
  <p:handoutMasterIdLst>
    <p:handoutMasterId r:id="rId28"/>
  </p:handoutMasterIdLst>
  <p:sldIdLst>
    <p:sldId id="288" r:id="rId4"/>
    <p:sldId id="290" r:id="rId5"/>
    <p:sldId id="289" r:id="rId6"/>
    <p:sldId id="296" r:id="rId7"/>
    <p:sldId id="291" r:id="rId8"/>
    <p:sldId id="297" r:id="rId9"/>
    <p:sldId id="298" r:id="rId10"/>
    <p:sldId id="299" r:id="rId11"/>
    <p:sldId id="293" r:id="rId12"/>
    <p:sldId id="295" r:id="rId13"/>
    <p:sldId id="300" r:id="rId14"/>
    <p:sldId id="265" r:id="rId15"/>
    <p:sldId id="301" r:id="rId17"/>
    <p:sldId id="302" r:id="rId18"/>
    <p:sldId id="304" r:id="rId19"/>
    <p:sldId id="269" r:id="rId20"/>
    <p:sldId id="303" r:id="rId21"/>
    <p:sldId id="308" r:id="rId22"/>
    <p:sldId id="306" r:id="rId23"/>
    <p:sldId id="307" r:id="rId24"/>
    <p:sldId id="305" r:id="rId25"/>
    <p:sldId id="294" r:id="rId26"/>
    <p:sldId id="310" r:id="rId27"/>
  </p:sldIdLst>
  <p:sldSz cx="12192000" cy="6858000"/>
  <p:notesSz cx="6858000" cy="9144000"/>
  <p:embeddedFontLst>
    <p:embeddedFont>
      <p:font typeface="微软雅黑" panose="020B0503020204020204" charset="-122"/>
      <p:regular r:id="rId32"/>
      <p:bold r:id="rId33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微软雅黑" panose="020B0503020204020204" charset="-122"/>
        <a:ea typeface="微软雅黑" panose="020B0503020204020204" charset="-122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主讲建议 35 秒</a:t>
            </a:r>
          </a:p>
          <a:p/>
          <a:p>
            <a:r>
              <a:t>面向商业化，我们建议交付完整工具包。用户拿到的除了零件，还要有明确的装配路径、能够开始的游戏和持续维护的方法。打印件按步骤分袋，电控提前检查，易丢失零件准备备件。首版不承诺无需指导的全流程装配，而是把复杂校准留给导师，把能够理解和完成的结构装配交给参与者。</a:t>
            </a:r>
          </a:p>
          <a:p/>
          <a:p>
            <a:r>
              <a:t>来源：https://github.com/paomodabaibai/CyberBrick2-User-Research-UX</a:t>
            </a:r>
          </a:p>
          <a:p>
            <a:r>
              <a:t>版式参考：用户提供的苹果.pptx 第 11 页。</a:t>
            </a:r>
          </a:p>
          <a:p>
            <a:r>
              <a:t>商业方案中的票价、人数、时间与指标均为规划假设。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主讲建议 45 秒</a:t>
            </a:r>
          </a:p>
          <a:p/>
          <a:p>
            <a:r>
              <a:t>更适合我们的融合方式，是把机器人桌游做成生态中的完整项目包。打印机负责结构制造和维修补件，CyberBrick 负责让结构动起来，MakerWorld 承接模型、打印配置和物料清单。拓竹的官方介绍本身强调模块化、电子件复用和创作者分享。我们在此基础上补充课程和线下比赛，让下载一个模型之后，还有一条可以持续参与的活动路径。</a:t>
            </a:r>
          </a:p>
          <a:p>
            <a:r>
              <a:t>官方依据：https://blog.bambulab.com/cyberbrick-announces-its-pre-launch-on-kickstarter-to-unlock-the-full-potential-of-3d-printing/</a:t>
            </a:r>
          </a:p>
          <a:p/>
          <a:p>
            <a:r>
              <a:t>来源：https://github.com/paomodabaibai/CyberBrick2-User-Research-UX</a:t>
            </a:r>
          </a:p>
          <a:p>
            <a:r>
              <a:t>版式参考：用户提供的苹果.pptx 第 9 页。</a:t>
            </a:r>
          </a:p>
          <a:p>
            <a:r>
              <a:t>商业方案中的票价、人数、时间与指标均为规划假设。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891856E-A020-42BF-8631-77A945CADA59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891856E-A020-42BF-8631-77A945CADA59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0BB9656B-852D-4A28-BD34-F460EF70936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891856E-A020-42BF-8631-77A945CADA59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一套创玩工具包，包含完整体验"/>
          <p:cNvSpPr>
            <a:spLocks noGrp="1"/>
          </p:cNvSpPr>
          <p:nvPr/>
        </p:nvSpPr>
        <p:spPr>
          <a:xfrm>
            <a:off x="609600" y="457200"/>
            <a:ext cx="10858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400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一套</a:t>
            </a:r>
            <a:r>
              <a:rPr lang="zh-CN" sz="400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包含完整体验的</a:t>
            </a:r>
            <a:r>
              <a:rPr sz="400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创玩工具包</a:t>
            </a:r>
            <a:endParaRPr sz="4000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milk"/>
          <p:cNvSpPr>
            <a:spLocks noGrp="1"/>
          </p:cNvSpPr>
          <p:nvPr/>
        </p:nvSpPr>
        <p:spPr>
          <a:xfrm>
            <a:off x="11191875" y="361950"/>
            <a:ext cx="6477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r">
              <a:defRPr sz="19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195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milk</a:t>
            </a:r>
            <a:endParaRPr sz="1950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28105"/>
            <a:ext cx="5810250" cy="3173290"/>
          </a:xfrm>
          <a:prstGeom prst="rect">
            <a:avLst/>
          </a:prstGeom>
        </p:spPr>
      </p:pic>
      <p:sp>
        <p:nvSpPr>
          <p:cNvPr id="4" name="项目拳头模块的五件打印包"/>
          <p:cNvSpPr>
            <a:spLocks noGrp="1"/>
          </p:cNvSpPr>
          <p:nvPr/>
        </p:nvSpPr>
        <p:spPr>
          <a:xfrm>
            <a:off x="609600" y="5753100"/>
            <a:ext cx="58102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ctr">
              <a:defRPr sz="150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500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项目拳头模块的五件打印包</a:t>
            </a:r>
            <a:endParaRPr sz="1500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可打印结构"/>
          <p:cNvSpPr>
            <a:spLocks noGrp="1"/>
          </p:cNvSpPr>
          <p:nvPr/>
        </p:nvSpPr>
        <p:spPr>
          <a:xfrm>
            <a:off x="6953250" y="1666875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2250" b="1">
                <a:solidFill>
                  <a:srgbClr val="007D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可打印结构</a:t>
            </a:r>
            <a:endParaRPr sz="2250" b="1">
              <a:solidFill>
                <a:srgbClr val="007D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机身适配件、攻击模块 外观件与场地道具"/>
          <p:cNvSpPr>
            <a:spLocks noGrp="1"/>
          </p:cNvSpPr>
          <p:nvPr/>
        </p:nvSpPr>
        <p:spPr>
          <a:xfrm>
            <a:off x="6953250" y="2095500"/>
            <a:ext cx="4381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725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机身适配件、攻击模块</a:t>
            </a:r>
            <a:endParaRPr sz="1725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725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外观件与场地道具</a:t>
            </a:r>
            <a:endParaRPr sz="1725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可复用电控"/>
          <p:cNvSpPr>
            <a:spLocks noGrp="1"/>
          </p:cNvSpPr>
          <p:nvPr/>
        </p:nvSpPr>
        <p:spPr>
          <a:xfrm>
            <a:off x="6953250" y="2771775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225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可复用电控</a:t>
            </a:r>
            <a:endParaRPr sz="2250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yberBrick 核心与驱动 按产品清单匹配器件"/>
          <p:cNvSpPr>
            <a:spLocks noGrp="1"/>
          </p:cNvSpPr>
          <p:nvPr/>
        </p:nvSpPr>
        <p:spPr>
          <a:xfrm>
            <a:off x="6953250" y="3200400"/>
            <a:ext cx="4381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725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CyberBrick 核心与驱动</a:t>
            </a:r>
            <a:endParaRPr sz="1725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725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按产品清单匹配器件</a:t>
            </a:r>
            <a:endParaRPr sz="1725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可执行课程"/>
          <p:cNvSpPr>
            <a:spLocks noGrp="1"/>
          </p:cNvSpPr>
          <p:nvPr/>
        </p:nvSpPr>
        <p:spPr>
          <a:xfrm>
            <a:off x="6953250" y="3876675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2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2250" b="1">
                <a:solidFill>
                  <a:srgbClr val="007D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可执行课程</a:t>
            </a:r>
            <a:endParaRPr sz="2250" b="1">
              <a:solidFill>
                <a:srgbClr val="007D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编号装配图、任务单 操作练习与赛制"/>
          <p:cNvSpPr>
            <a:spLocks noGrp="1"/>
          </p:cNvSpPr>
          <p:nvPr/>
        </p:nvSpPr>
        <p:spPr>
          <a:xfrm>
            <a:off x="6953250" y="4305300"/>
            <a:ext cx="4381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725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编号装配图、任务单</a:t>
            </a:r>
            <a:endParaRPr sz="1725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725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操作练习与赛制</a:t>
            </a:r>
            <a:endParaRPr sz="1725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可维护资料"/>
          <p:cNvSpPr>
            <a:spLocks noGrp="1"/>
          </p:cNvSpPr>
          <p:nvPr/>
        </p:nvSpPr>
        <p:spPr>
          <a:xfrm>
            <a:off x="6953250" y="4981575"/>
            <a:ext cx="4381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2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225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可维护资料</a:t>
            </a:r>
            <a:endParaRPr sz="2250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零件索引、备件清单 校准步骤与故障排查"/>
          <p:cNvSpPr>
            <a:spLocks noGrp="1"/>
          </p:cNvSpPr>
          <p:nvPr/>
        </p:nvSpPr>
        <p:spPr>
          <a:xfrm>
            <a:off x="6953250" y="5410200"/>
            <a:ext cx="4381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725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零件索引、备件清单</a:t>
            </a:r>
            <a:endParaRPr sz="1725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725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725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校准步骤与故障排查</a:t>
            </a:r>
            <a:endParaRPr sz="1725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产品化方案；统一接口、包装分仓与课程材料拟在试点前完成"/>
          <p:cNvSpPr>
            <a:spLocks noGrp="1"/>
          </p:cNvSpPr>
          <p:nvPr/>
        </p:nvSpPr>
        <p:spPr>
          <a:xfrm>
            <a:off x="609600" y="62674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275" b="0">
                <a:solidFill>
                  <a:srgbClr val="7474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产品化方案；统一接口、包装分仓与课程材料拟在试点前完成</a:t>
            </a:r>
            <a:endParaRPr sz="1275" b="0">
              <a:solidFill>
                <a:srgbClr val="7474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10"/>
          <p:cNvSpPr>
            <a:spLocks noGrp="1"/>
          </p:cNvSpPr>
          <p:nvPr/>
        </p:nvSpPr>
        <p:spPr>
          <a:xfrm>
            <a:off x="11430000" y="63627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050" b="0">
                <a:solidFill>
                  <a:srgbClr val="A0A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A0A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让桌游成为拓竹生态中的一个创作入口"/>
          <p:cNvSpPr>
            <a:spLocks noGrp="1"/>
          </p:cNvSpPr>
          <p:nvPr/>
        </p:nvSpPr>
        <p:spPr>
          <a:xfrm>
            <a:off x="609600" y="457200"/>
            <a:ext cx="108585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330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360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让桌游成为拓竹生态中的一个创作入口</a:t>
            </a:r>
            <a:endParaRPr sz="3600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拓竹打印机与耗材"/>
          <p:cNvSpPr>
            <a:spLocks noGrp="1"/>
          </p:cNvSpPr>
          <p:nvPr/>
        </p:nvSpPr>
        <p:spPr>
          <a:xfrm>
            <a:off x="609600" y="180975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lang="en-US" sz="255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255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拓竹打印机与耗材</a:t>
            </a:r>
            <a:endParaRPr sz="2550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打印结构、补件和外观"/>
          <p:cNvSpPr>
            <a:spLocks noGrp="1"/>
          </p:cNvSpPr>
          <p:nvPr/>
        </p:nvSpPr>
        <p:spPr>
          <a:xfrm>
            <a:off x="3901440" y="1809750"/>
            <a:ext cx="676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2325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打印结构、补件和外观</a:t>
            </a:r>
            <a:endParaRPr sz="2325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可重复制造的零件库"/>
          <p:cNvSpPr>
            <a:spLocks noGrp="1"/>
          </p:cNvSpPr>
          <p:nvPr/>
        </p:nvSpPr>
        <p:spPr>
          <a:xfrm>
            <a:off x="3901440" y="2362200"/>
            <a:ext cx="6762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950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可重复制造的零件库</a:t>
            </a:r>
            <a:endParaRPr sz="1950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yberBrick"/>
          <p:cNvSpPr>
            <a:spLocks noGrp="1"/>
          </p:cNvSpPr>
          <p:nvPr/>
        </p:nvSpPr>
        <p:spPr>
          <a:xfrm>
            <a:off x="609600" y="334772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550" b="1">
                <a:solidFill>
                  <a:srgbClr val="007DAD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lang="en-US" sz="2550" b="1">
                <a:solidFill>
                  <a:srgbClr val="007D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2550" b="1">
                <a:solidFill>
                  <a:srgbClr val="007D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CyberBrick</a:t>
            </a:r>
            <a:endParaRPr sz="2550" b="1">
              <a:solidFill>
                <a:srgbClr val="007D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提供可复用的电控基础"/>
          <p:cNvSpPr>
            <a:spLocks noGrp="1"/>
          </p:cNvSpPr>
          <p:nvPr/>
        </p:nvSpPr>
        <p:spPr>
          <a:xfrm>
            <a:off x="3901440" y="3268980"/>
            <a:ext cx="676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2325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提供可复用的电控基础</a:t>
            </a:r>
            <a:endParaRPr sz="2325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同一套电子件承接后续项目"/>
          <p:cNvSpPr>
            <a:spLocks noGrp="1"/>
          </p:cNvSpPr>
          <p:nvPr/>
        </p:nvSpPr>
        <p:spPr>
          <a:xfrm>
            <a:off x="3901440" y="3821430"/>
            <a:ext cx="6762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950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同一套电子件承接后续项目</a:t>
            </a:r>
            <a:endParaRPr sz="1950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akerWorld"/>
          <p:cNvSpPr>
            <a:spLocks noGrp="1"/>
          </p:cNvSpPr>
          <p:nvPr/>
        </p:nvSpPr>
        <p:spPr>
          <a:xfrm>
            <a:off x="609600" y="488569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550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lang="en-US" sz="255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sz="255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MakerWorld</a:t>
            </a:r>
            <a:r>
              <a:rPr lang="zh-CN" sz="2550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</a:t>
            </a:r>
            <a:endParaRPr lang="zh-CN" sz="2550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分享模型、打印配置与 BOM"/>
          <p:cNvSpPr>
            <a:spLocks noGrp="1"/>
          </p:cNvSpPr>
          <p:nvPr/>
        </p:nvSpPr>
        <p:spPr>
          <a:xfrm>
            <a:off x="3901440" y="4768215"/>
            <a:ext cx="6762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defPPr>
            <a:lvl1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1pPr>
            <a:lvl2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2pPr>
            <a:lvl3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3pPr>
            <a:lvl4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4pPr>
            <a:lvl5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5pPr>
            <a:lvl6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6pPr>
            <a:lvl7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7pPr>
            <a:lvl8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8pPr>
            <a:lvl9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lvl9pPr>
          </a:lstStyle>
          <a:p>
            <a:pPr algn="l">
              <a:defRPr sz="2325" b="1">
                <a:solidFill>
                  <a:srgbClr val="111114"/>
                </a:solidFill>
                <a:latin typeface="阿里妈妈方圆体 VF SemiBold"/>
                <a:ea typeface="阿里妈妈方圆体 VF SemiBold"/>
                <a:cs typeface="阿里妈妈方圆体 VF SemiBold"/>
              </a:defRPr>
            </a:pPr>
            <a:r>
              <a:rPr sz="2325" b="1">
                <a:solidFill>
                  <a:srgbClr val="11111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分享模型、打印配置与 BOM</a:t>
            </a:r>
            <a:endParaRPr sz="2325" b="1">
              <a:solidFill>
                <a:srgbClr val="11111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把活动作品变成可发现的创作内容"/>
          <p:cNvSpPr>
            <a:spLocks noGrp="1"/>
          </p:cNvSpPr>
          <p:nvPr/>
        </p:nvSpPr>
        <p:spPr>
          <a:xfrm>
            <a:off x="3901440" y="5320665"/>
            <a:ext cx="67627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950" b="0">
                <a:solidFill>
                  <a:srgbClr val="69696F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950" b="0">
                <a:solidFill>
                  <a:srgbClr val="6969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把活动作品变成可发现的创作内容</a:t>
            </a:r>
            <a:endParaRPr sz="1950" b="0">
              <a:solidFill>
                <a:srgbClr val="6969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生态衔接方案；以官方实际兼容性、平台规则与发布审核为准"/>
          <p:cNvSpPr>
            <a:spLocks noGrp="1"/>
          </p:cNvSpPr>
          <p:nvPr/>
        </p:nvSpPr>
        <p:spPr>
          <a:xfrm>
            <a:off x="609600" y="62674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l">
              <a:defRPr sz="1275" b="0">
                <a:solidFill>
                  <a:srgbClr val="74747A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275" b="0">
                <a:solidFill>
                  <a:srgbClr val="7474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生态衔接方案；以官方实际兼容性、平台规则与发布审核为准</a:t>
            </a:r>
            <a:endParaRPr sz="1275" b="0">
              <a:solidFill>
                <a:srgbClr val="7474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14"/>
          <p:cNvSpPr>
            <a:spLocks noGrp="1"/>
          </p:cNvSpPr>
          <p:nvPr/>
        </p:nvSpPr>
        <p:spPr>
          <a:xfrm>
            <a:off x="11430000" y="6362700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defPPr>
            <a:lvl1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1pPr>
            <a:lvl2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2pPr>
            <a:lvl3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3pPr>
            <a:lvl4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4pPr>
            <a:lvl5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5pPr>
            <a:lvl6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6pPr>
            <a:lvl7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7pPr>
            <a:lvl8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8pPr>
            <a:lvl9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lvl9pPr>
          </a:lstStyle>
          <a:p>
            <a:pPr algn="r">
              <a:defRPr sz="1050" b="0">
                <a:solidFill>
                  <a:srgbClr val="A0A0A5"/>
                </a:solidFill>
                <a:latin typeface="江城圆体 400W" panose="020B0500000000000000" charset="-122"/>
                <a:ea typeface="江城圆体 400W" panose="020B0500000000000000" charset="-122"/>
                <a:cs typeface="江城圆体 400W" panose="020B0500000000000000" charset="-122"/>
              </a:defRPr>
            </a:pPr>
            <a:r>
              <a:rPr sz="1050" b="0">
                <a:solidFill>
                  <a:srgbClr val="A0A0A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0">
              <a:solidFill>
                <a:srgbClr val="A0A0A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WPS 演示</Application>
  <PresentationFormat>Converted Presentation</PresentationFormat>
  <Paragraphs>54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44" baseType="lpstr">
      <vt:lpstr>Arial</vt:lpstr>
      <vt:lpstr>宋体</vt:lpstr>
      <vt:lpstr>Wingdings</vt:lpstr>
      <vt:lpstr>Arial</vt:lpstr>
      <vt:lpstr>阿里妈妈方圆体 VF SemiBold</vt:lpstr>
      <vt:lpstr>AMGDT</vt:lpstr>
      <vt:lpstr>江城圆体 400W</vt:lpstr>
      <vt:lpstr>香萃打字机体 W40</vt:lpstr>
      <vt:lpstr>STHeiti Light</vt:lpstr>
      <vt:lpstr>微软雅黑</vt:lpstr>
      <vt:lpstr>Arial Unicode MS</vt:lpstr>
      <vt:lpstr>等线 Light</vt:lpstr>
      <vt:lpstr>等线</vt:lpstr>
      <vt:lpstr>Calibri</vt:lpstr>
      <vt:lpstr>仿宋</vt:lpstr>
      <vt:lpstr>STHeiti Light</vt:lpstr>
      <vt:lpstr>江城圆体 400W</vt:lpstr>
      <vt:lpstr>阿里妈妈方圆体 VF SemiBold</vt:lpstr>
      <vt:lpstr>香萃打字机体 W40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白昊灵(2023012023)</cp:lastModifiedBy>
  <cp:revision>6</cp:revision>
  <dcterms:created xsi:type="dcterms:W3CDTF">2026-10-21T13:26:00Z</dcterms:created>
  <dcterms:modified xsi:type="dcterms:W3CDTF">2026-10-21T15:00:17Z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9ABECF9058FC4143A078A356AAEDBB34_13</vt:lpwstr>
  </property>
  <property fmtid="{D5CDD505-2E9C-101B-9397-08002B2CF9AE}" pid="3" name="KSOProductBuildVer">
    <vt:lpwstr>2052-12.1.0.28043</vt:lpwstr>
  </property>
</Properties>
</file>